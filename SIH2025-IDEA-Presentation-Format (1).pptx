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8EBC1D2-ABB6-4D6D-BE4B-F0F0D80D57A8}">
          <p14:sldIdLst>
            <p14:sldId id="291"/>
          </p14:sldIdLst>
        </p14:section>
        <p14:section name="Untitled Section" id="{DDF3E5D0-2E79-4C22-B2D1-D00B0A1AA3E1}">
          <p14:sldIdLst>
            <p14:sldId id="281"/>
            <p14:sldId id="290"/>
            <p14:sldId id="293"/>
            <p14:sldId id="294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reerflow.ai/resumeoptimizer#:~:text=What%20does%20the%20Resume%20Optimizer,to%20improve%20relevance%20and%20visibilit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R5WXaxmb6m4&amp;pp=0gcJCfwAo7VqN5tD" TargetMode="Externa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693630" y="1524914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988886" y="6297"/>
            <a:ext cx="2826781" cy="1122868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713918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3526" y="1173607"/>
            <a:ext cx="8148541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25135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US" sz="2400" dirty="0"/>
              <a:t>Student Innovation: Swadeshi for Atmanirbhar Bharat - 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/>
              <a:t>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HackEdemics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509930" y="212069"/>
            <a:ext cx="8455337" cy="874930"/>
          </a:xfrm>
        </p:spPr>
        <p:txBody>
          <a:bodyPr/>
          <a:lstStyle/>
          <a:p>
            <a:pPr eaLnBrk="1" hangingPunct="1"/>
            <a:r>
              <a:rPr lang="en-US" sz="3600" b="1" dirty="0"/>
              <a:t>Resume Optimizer </a:t>
            </a:r>
            <a:r>
              <a:rPr lang="en-US" sz="3600" dirty="0"/>
              <a:t>– </a:t>
            </a:r>
            <a:r>
              <a:rPr lang="en-US" sz="2400" dirty="0"/>
              <a:t>AI-powered Resume Tailoring for Job Seekers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0C962F-73CF-4BE9-A8FC-583DFE1E4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4" y="57097"/>
            <a:ext cx="1444616" cy="1221370"/>
          </a:xfrm>
          <a:prstGeom prst="rect">
            <a:avLst/>
          </a:prstGeom>
        </p:spPr>
      </p:pic>
      <p:sp>
        <p:nvSpPr>
          <p:cNvPr id="11" name="TextBox 8">
            <a:extLst>
              <a:ext uri="{FF2B5EF4-FFF2-40B4-BE49-F238E27FC236}">
                <a16:creationId xmlns:a16="http://schemas.microsoft.com/office/drawing/2014/main" id="{3FA7C572-B35F-0858-CA62-7DE2A8A88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55" y="1233503"/>
            <a:ext cx="8984947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u="sng" dirty="0"/>
              <a:t>Points to include</a:t>
            </a:r>
            <a:r>
              <a:rPr lang="en-US" sz="2800" dirty="0"/>
              <a:t>:-</a:t>
            </a:r>
          </a:p>
          <a:p>
            <a:r>
              <a:rPr lang="en-US" sz="2800" b="1" u="sng" dirty="0"/>
              <a:t>Problem</a:t>
            </a:r>
            <a:r>
              <a:rPr lang="en-US" sz="2800" dirty="0"/>
              <a:t>: Resumes get rejected due to poor keyword/job fit.</a:t>
            </a:r>
          </a:p>
          <a:p>
            <a:endParaRPr lang="en-US" sz="2800" dirty="0"/>
          </a:p>
          <a:p>
            <a:r>
              <a:rPr lang="en-US" sz="2800" b="1" u="sng" dirty="0"/>
              <a:t>Solution</a:t>
            </a:r>
            <a:r>
              <a:rPr lang="en-US" sz="2800" dirty="0"/>
              <a:t>: Upload resume + job description → tool analyzes &amp; optimizes → output report with missing skills, score, and suggestions.</a:t>
            </a:r>
          </a:p>
          <a:p>
            <a:endParaRPr lang="en-US" sz="2800" dirty="0"/>
          </a:p>
          <a:p>
            <a:r>
              <a:rPr lang="en-US" sz="2800" b="1" u="sng" dirty="0"/>
              <a:t>Uniqueness</a:t>
            </a:r>
            <a:r>
              <a:rPr lang="en-US" sz="2800" dirty="0"/>
              <a:t>: Free, simple, Indian-user focused, instant feedback.</a:t>
            </a:r>
          </a:p>
          <a:p>
            <a:endParaRPr lang="en-US" sz="2800" dirty="0"/>
          </a:p>
          <a:p>
            <a:r>
              <a:rPr lang="en-US" sz="2800" b="1" u="sng" dirty="0"/>
              <a:t>Value</a:t>
            </a:r>
            <a:r>
              <a:rPr lang="en-US" sz="2800" dirty="0"/>
              <a:t>: Increases shortlisting chances, saves recruiter screening 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204705" y="0"/>
            <a:ext cx="8090989" cy="961611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879" y="-80629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8C95C06-173C-975C-2168-5136C9B88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4" y="57097"/>
            <a:ext cx="1574800" cy="1331436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2B672324-6D7E-D5AB-CD9E-69D112B46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14" y="2002022"/>
            <a:ext cx="820661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Upload resume + JD.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Extract text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PyMuPDF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python-docx).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Cleaning, tokenization (NLTK/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Keyword extraction, semantic matching 				(TensorFlow/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Resume-job relevance score.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Report (score, missing keywords, feedback).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363E5A84-0B97-A455-F444-898E3EF2E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299" y="4655016"/>
            <a:ext cx="462521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 React.js + Tailwind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 Python (Flask/Django)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AI/NLP: NLTK,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TensorFlow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 MongoDB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Deployment: Docker + Cloud (AWS/GCP)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DEC721C-6AD5-E7FC-DD0B-68B5ED80D3F7}"/>
              </a:ext>
            </a:extLst>
          </p:cNvPr>
          <p:cNvSpPr txBox="1">
            <a:spLocks/>
          </p:cNvSpPr>
          <p:nvPr/>
        </p:nvSpPr>
        <p:spPr bwMode="auto">
          <a:xfrm>
            <a:off x="-1056901" y="1525054"/>
            <a:ext cx="5198761" cy="676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Workflow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0FEB60F-AA8E-D7EC-43EA-448082B6812E}"/>
              </a:ext>
            </a:extLst>
          </p:cNvPr>
          <p:cNvSpPr txBox="1">
            <a:spLocks/>
          </p:cNvSpPr>
          <p:nvPr/>
        </p:nvSpPr>
        <p:spPr bwMode="auto">
          <a:xfrm>
            <a:off x="5556929" y="3960358"/>
            <a:ext cx="5198761" cy="676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 Stacks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A910A20-DF87-DBF1-EE45-99CEC3E55DA3}"/>
              </a:ext>
            </a:extLst>
          </p:cNvPr>
          <p:cNvCxnSpPr/>
          <p:nvPr/>
        </p:nvCxnSpPr>
        <p:spPr>
          <a:xfrm>
            <a:off x="0" y="4140200"/>
            <a:ext cx="6426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2D1BFC-DB0E-767E-37EC-A64379BF1670}"/>
              </a:ext>
            </a:extLst>
          </p:cNvPr>
          <p:cNvCxnSpPr/>
          <p:nvPr/>
        </p:nvCxnSpPr>
        <p:spPr>
          <a:xfrm>
            <a:off x="-22377" y="1591733"/>
            <a:ext cx="6426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6E1F6B-95D4-904F-C902-DC2DD3A793B8}"/>
              </a:ext>
            </a:extLst>
          </p:cNvPr>
          <p:cNvCxnSpPr/>
          <p:nvPr/>
        </p:nvCxnSpPr>
        <p:spPr>
          <a:xfrm>
            <a:off x="6403823" y="1591733"/>
            <a:ext cx="22377" cy="25484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72FFF2B-2BB7-F258-D340-725068689B9E}"/>
              </a:ext>
            </a:extLst>
          </p:cNvPr>
          <p:cNvCxnSpPr>
            <a:cxnSpLocks/>
          </p:cNvCxnSpPr>
          <p:nvPr/>
        </p:nvCxnSpPr>
        <p:spPr>
          <a:xfrm>
            <a:off x="6883400" y="4140200"/>
            <a:ext cx="0" cy="2078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EA3AB52-D21C-E06B-4B40-086B6A58872A}"/>
              </a:ext>
            </a:extLst>
          </p:cNvPr>
          <p:cNvCxnSpPr>
            <a:cxnSpLocks/>
          </p:cNvCxnSpPr>
          <p:nvPr/>
        </p:nvCxnSpPr>
        <p:spPr>
          <a:xfrm>
            <a:off x="6883400" y="6218240"/>
            <a:ext cx="50660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7933ECE-4381-806C-624E-7A0CC57E76B7}"/>
              </a:ext>
            </a:extLst>
          </p:cNvPr>
          <p:cNvCxnSpPr>
            <a:cxnSpLocks/>
          </p:cNvCxnSpPr>
          <p:nvPr/>
        </p:nvCxnSpPr>
        <p:spPr>
          <a:xfrm>
            <a:off x="6883400" y="4140200"/>
            <a:ext cx="50660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233110B-DE3C-9905-CB7F-030D590D5389}"/>
              </a:ext>
            </a:extLst>
          </p:cNvPr>
          <p:cNvCxnSpPr>
            <a:cxnSpLocks/>
          </p:cNvCxnSpPr>
          <p:nvPr/>
        </p:nvCxnSpPr>
        <p:spPr>
          <a:xfrm>
            <a:off x="11924090" y="4140200"/>
            <a:ext cx="0" cy="2078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D868E44D-9D67-3817-2966-7F17BFA584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181" y="777285"/>
            <a:ext cx="3072715" cy="3345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92880" y="1512310"/>
            <a:ext cx="229446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FEASIBILTY:-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00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D757515-4D53-9ABC-B922-FCC66A1E6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4" y="57097"/>
            <a:ext cx="1574800" cy="1331436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23600B2-15FB-BC83-E133-436A8554A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359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Technically feasible (AI + NLP widely used).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via cloud + containerization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4E7EFE7C-7953-04AD-B3AF-BC4ABC0E8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880" y="4384656"/>
            <a:ext cx="229446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SOLUTIONS:-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00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EE7ED54-339F-36CB-3B82-EF170383D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880" y="2799369"/>
            <a:ext cx="229446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CHALLENGES:-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00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7C8AEF44-EB97-D15F-3BB4-AC6D62CDA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012" y="36033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Parsing inconsistent resume formats.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context understanding.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87B6FE54-0233-FEF6-C236-DFDB5AB53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09254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Regex + NLP hybrid for parsing.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Iterative ML model training for better context.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9640" y="1660399"/>
            <a:ext cx="862796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u="sng" dirty="0"/>
              <a:t>Impact</a:t>
            </a:r>
            <a:r>
              <a:rPr lang="en-US" sz="2800" b="1" dirty="0"/>
              <a:t>:</a:t>
            </a:r>
            <a:endParaRPr lang="en-US" sz="2800" dirty="0"/>
          </a:p>
          <a:p>
            <a:r>
              <a:rPr lang="en-US" sz="2800" b="1" dirty="0"/>
              <a:t>Candidates</a:t>
            </a:r>
            <a:r>
              <a:rPr lang="en-US" sz="2800" dirty="0"/>
              <a:t>: Higher chance of shortlisting, confidence boost.</a:t>
            </a:r>
          </a:p>
          <a:p>
            <a:r>
              <a:rPr lang="en-US" sz="2800" b="1" dirty="0"/>
              <a:t>Recruiters</a:t>
            </a:r>
            <a:r>
              <a:rPr lang="en-US" sz="2800" dirty="0"/>
              <a:t>: Saves time, better resume quality.</a:t>
            </a:r>
          </a:p>
          <a:p>
            <a:endParaRPr lang="en-US" sz="2800" dirty="0"/>
          </a:p>
          <a:p>
            <a:r>
              <a:rPr lang="en-US" sz="2800" b="1" dirty="0"/>
              <a:t>Benefits:</a:t>
            </a:r>
            <a:endParaRPr lang="en-US" sz="2800" dirty="0"/>
          </a:p>
          <a:p>
            <a:r>
              <a:rPr lang="en-US" sz="2800" b="1" dirty="0"/>
              <a:t>Social:</a:t>
            </a:r>
            <a:r>
              <a:rPr lang="en-US" sz="2800" dirty="0"/>
              <a:t> Democratizes access to better job opportunities.</a:t>
            </a:r>
          </a:p>
          <a:p>
            <a:r>
              <a:rPr lang="en-US" sz="2800" b="1" dirty="0"/>
              <a:t>Economic:</a:t>
            </a:r>
            <a:r>
              <a:rPr lang="en-US" sz="2800" dirty="0"/>
              <a:t> Reduces unemployment caused by resume filtering.</a:t>
            </a:r>
          </a:p>
          <a:p>
            <a:r>
              <a:rPr lang="en-US" sz="2800" b="1" dirty="0"/>
              <a:t>Scalability:</a:t>
            </a:r>
            <a:r>
              <a:rPr lang="en-US" sz="2800" dirty="0"/>
              <a:t> Can expand to multiple languages and regions.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572E42C-C82F-6AB6-8A88-50CAD6D85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4" y="57097"/>
            <a:ext cx="1574800" cy="133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5314" y="2112511"/>
            <a:ext cx="101176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https://www.careerflow.ai/resumeoptimizer#:~:text=What%20does%20the%20Resume%20Optimizer,to%20improve%20relevance%20and%20visibility</a:t>
            </a: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  </a:t>
            </a:r>
            <a:r>
              <a:rPr lang="en-US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(IDEA)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7C6027-849F-5B49-6E46-D0C87A3A8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4" y="57097"/>
            <a:ext cx="1574800" cy="1331436"/>
          </a:xfrm>
          <a:prstGeom prst="rect">
            <a:avLst/>
          </a:prstGeom>
        </p:spPr>
      </p:pic>
      <p:sp>
        <p:nvSpPr>
          <p:cNvPr id="3" name="TextBox 8">
            <a:extLst>
              <a:ext uri="{FF2B5EF4-FFF2-40B4-BE49-F238E27FC236}">
                <a16:creationId xmlns:a16="http://schemas.microsoft.com/office/drawing/2014/main" id="{38F4B30E-58B3-7651-F17C-5015C1D35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14" y="2777870"/>
            <a:ext cx="1011766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6"/>
              </a:rPr>
              <a:t>https://www.youtube.com/watch?v=R5WXaxmb6m4&amp;pp=0gcJCfwAo7VqN5tD</a:t>
            </a:r>
            <a:r>
              <a:rPr lang="en-US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 (Workflow)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4C51CD5B-892C-7357-8C7F-778030254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47" y="3306667"/>
            <a:ext cx="1011766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ttps://medium.com/illumination/the-great-indian-ai-gold-rush-how-salaries-skyrocketed-by-up-to-116-in-a-new-world-of-risk-and-c9d7d307622b#:~:text=A%20Senior%20AI%20Specialist%20who,L%20to%20%E2%82%B948.0L.&amp;text=A%20visual%20comparison%20of%20annual,)%20to%202024%20(yellow).   </a:t>
            </a:r>
            <a:r>
              <a:rPr lang="en-US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(RESEARCH)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FD9CE76-1C1E-BB45-12A9-06A48B1F5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47" y="4449080"/>
            <a:ext cx="1011766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b="1" u="sng" dirty="0"/>
              <a:t>Tools/libraries referenced</a:t>
            </a:r>
            <a:r>
              <a:rPr lang="en-US" sz="2000" dirty="0"/>
              <a:t>: </a:t>
            </a:r>
            <a:r>
              <a:rPr lang="en-US" sz="2000" dirty="0" err="1"/>
              <a:t>SpaCy</a:t>
            </a:r>
            <a:r>
              <a:rPr lang="en-US" sz="2000" dirty="0"/>
              <a:t>, NLTK, </a:t>
            </a:r>
            <a:r>
              <a:rPr lang="en-US" sz="2000" dirty="0" err="1"/>
              <a:t>PyMuPDF</a:t>
            </a:r>
            <a:r>
              <a:rPr lang="en-US" sz="2000" dirty="0"/>
              <a:t>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7581</TotalTime>
  <Words>486</Words>
  <Application>Microsoft Office PowerPoint</Application>
  <PresentationFormat>Widescreen</PresentationFormat>
  <Paragraphs>76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2025</vt:lpstr>
      <vt:lpstr>Resume Optimizer – AI-powered Resume Tailoring for Job Seekers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Ayush Pradhan</cp:lastModifiedBy>
  <cp:revision>148</cp:revision>
  <dcterms:created xsi:type="dcterms:W3CDTF">2013-12-12T18:46:50Z</dcterms:created>
  <dcterms:modified xsi:type="dcterms:W3CDTF">2025-09-23T06:12:32Z</dcterms:modified>
  <cp:category/>
</cp:coreProperties>
</file>